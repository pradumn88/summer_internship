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/>
          <p:cNvSpPr txBox="1"/>
          <p:nvPr>
            <p:ph type="body" sz="quarter" idx="2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pP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/>
          <p:cNvSpPr/>
          <p:nvPr>
            <p:ph type="pic" idx="21"/>
          </p:nvPr>
        </p:nvSpPr>
        <p:spPr>
          <a:xfrm>
            <a:off x="-1155700" y="-1295400"/>
            <a:ext cx="26746201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Rectangle"/>
          <p:cNvSpPr txBox="1"/>
          <p:nvPr>
            <p:ph type="body" sz="quarter" idx="22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pPr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le Text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"/>
          <p:cNvSpPr txBox="1"/>
          <p:nvPr>
            <p:ph type="body" sz="quarter" idx="2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"/>
          <p:cNvSpPr txBox="1"/>
          <p:nvPr>
            <p:ph type="body" sz="quarter" idx="2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61" name="Image"/>
          <p:cNvSpPr/>
          <p:nvPr>
            <p:ph type="pic" idx="22"/>
          </p:nvPr>
        </p:nvSpPr>
        <p:spPr>
          <a:xfrm>
            <a:off x="12192000" y="-407266"/>
            <a:ext cx="10916873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Body Level One…"/>
          <p:cNvSpPr txBox="1"/>
          <p:nvPr>
            <p:ph type="body" sz="half" idx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"/>
          <p:cNvSpPr txBox="1"/>
          <p:nvPr>
            <p:ph type="body" sz="quarter" idx="2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"/>
          <p:cNvSpPr txBox="1"/>
          <p:nvPr>
            <p:ph type="body" sz="quarter" idx="2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/>
          <p:cNvSpPr txBox="1"/>
          <p:nvPr>
            <p:ph type="body" sz="quarter" idx="2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"/>
          <p:cNvSpPr txBox="1"/>
          <p:nvPr>
            <p:ph type="body" sz="quarter" idx="2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109" name="Title Text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+mn-lt"/>
                <a:ea typeface="+mn-ea"/>
                <a:cs typeface="+mn-cs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+mn-lt"/>
                <a:ea typeface="+mn-ea"/>
                <a:cs typeface="+mn-cs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+mn-lt"/>
                <a:ea typeface="+mn-ea"/>
                <a:cs typeface="+mn-cs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+mn-lt"/>
                <a:ea typeface="+mn-ea"/>
                <a:cs typeface="+mn-cs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+mn-lt"/>
                <a:ea typeface="+mn-ea"/>
                <a:cs typeface="+mn-cs"/>
                <a:sym typeface="Helvetica Neue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"/>
          <p:cNvSpPr txBox="1"/>
          <p:nvPr>
            <p:ph type="body" sz="quarter" idx="2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pPr>
          </a:p>
        </p:txBody>
      </p:sp>
      <p:sp>
        <p:nvSpPr>
          <p:cNvPr id="127" name="Body Level One…"/>
          <p:cNvSpPr txBox="1"/>
          <p:nvPr>
            <p:ph type="body" idx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 txBox="1"/>
          <p:nvPr>
            <p:ph type="body" sz="quarter" idx="2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pPr>
          </a:p>
        </p:txBody>
      </p:sp>
      <p:sp>
        <p:nvSpPr>
          <p:cNvPr id="136" name="Body Level One…"/>
          <p:cNvSpPr txBox="1"/>
          <p:nvPr>
            <p:ph type="body" sz="half" idx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+mn-lt"/>
                <a:ea typeface="+mn-ea"/>
                <a:cs typeface="+mn-cs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+mn-lt"/>
                <a:ea typeface="+mn-ea"/>
                <a:cs typeface="+mn-cs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+mn-lt"/>
                <a:ea typeface="+mn-ea"/>
                <a:cs typeface="+mn-cs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+mn-lt"/>
                <a:ea typeface="+mn-ea"/>
                <a:cs typeface="+mn-cs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+mn-lt"/>
                <a:ea typeface="+mn-ea"/>
                <a:cs typeface="+mn-cs"/>
                <a:sym typeface="Helvetica Neue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Image"/>
          <p:cNvSpPr/>
          <p:nvPr>
            <p:ph type="pic" idx="23"/>
          </p:nvPr>
        </p:nvSpPr>
        <p:spPr>
          <a:xfrm>
            <a:off x="-139700" y="495300"/>
            <a:ext cx="16611601" cy="124587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Image"/>
          <p:cNvSpPr/>
          <p:nvPr>
            <p:ph type="pic" idx="21"/>
          </p:nvPr>
        </p:nvSpPr>
        <p:spPr>
          <a:xfrm>
            <a:off x="-1333500" y="-5524500"/>
            <a:ext cx="27051001" cy="216408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universe.roboflow.com/mohamed-traore-2ekkp/chest-x-rays-qjmia/dataset/3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Screenshot 2025-08-15 at 11.04.37 PM.png" descr="Screenshot 2025-08-15 at 11.04.37 PM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7187" r="0" b="1718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72" name="Pneumonia Detection From X-Ray Ima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Pneumonia Detection From X-Ray Image </a:t>
            </a:r>
          </a:p>
        </p:txBody>
      </p:sp>
      <p:sp>
        <p:nvSpPr>
          <p:cNvPr id="173" name="Using CN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Using CNN</a:t>
            </a:r>
          </a:p>
        </p:txBody>
      </p:sp>
      <p:sp>
        <p:nvSpPr>
          <p:cNvPr id="174" name="Faaizah Qadri…"/>
          <p:cNvSpPr txBox="1"/>
          <p:nvPr/>
        </p:nvSpPr>
        <p:spPr>
          <a:xfrm>
            <a:off x="3902516" y="1706133"/>
            <a:ext cx="1793004" cy="22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Faaizah Qadri 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Yuvraj Singh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Pradumn Pandey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Arpan Pareek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Hemank Kumar</a:t>
            </a:r>
          </a:p>
        </p:txBody>
      </p:sp>
      <p:sp>
        <p:nvSpPr>
          <p:cNvPr id="175" name="Group - 15"/>
          <p:cNvSpPr txBox="1"/>
          <p:nvPr/>
        </p:nvSpPr>
        <p:spPr>
          <a:xfrm>
            <a:off x="3735406" y="550900"/>
            <a:ext cx="3545087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Group - 15</a:t>
            </a:r>
          </a:p>
        </p:txBody>
      </p:sp>
      <p:sp>
        <p:nvSpPr>
          <p:cNvPr id="176" name="500109400…"/>
          <p:cNvSpPr txBox="1"/>
          <p:nvPr/>
        </p:nvSpPr>
        <p:spPr>
          <a:xfrm>
            <a:off x="5967471" y="1706133"/>
            <a:ext cx="1403402" cy="22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500109400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500109504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500109343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500109469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16" sz="1600"/>
            </a:pPr>
            <a:r>
              <a:t>500107847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neumonia is a leading cause of child mortality under five years old ∥ early, accurate detection significantly impacts outcomes…"/>
          <p:cNvSpPr txBox="1"/>
          <p:nvPr>
            <p:ph type="body" sz="half" idx="1"/>
          </p:nvPr>
        </p:nvSpPr>
        <p:spPr>
          <a:xfrm>
            <a:off x="1206500" y="2729685"/>
            <a:ext cx="9779001" cy="8256630"/>
          </a:xfrm>
          <a:prstGeom prst="rect">
            <a:avLst/>
          </a:prstGeom>
        </p:spPr>
        <p:txBody>
          <a:bodyPr/>
          <a:lstStyle/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  <a:r>
              <a:t>Pneumonia is a leading cause of child mortality under five years old ∥ early, accurate detection significantly impacts outcomes</a:t>
            </a:r>
          </a:p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  <a:r>
              <a:t>The project addresses the challenge of accurately classifying chest X-ray images to detect diseases.</a:t>
            </a:r>
          </a:p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  <a:r>
              <a:t>Early and accurate detection through AI can improve diagnosis speed and patient outcomes.</a:t>
            </a:r>
          </a:p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</a:p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  <a:r>
              <a:rPr b="1"/>
              <a:t>Objective:</a:t>
            </a:r>
            <a:r>
              <a:t> </a:t>
            </a:r>
          </a:p>
          <a:p>
            <a:pPr marL="0" indent="0" defTabSz="1779987">
              <a:spcBef>
                <a:spcPts val="3200"/>
              </a:spcBef>
              <a:buSzTx/>
              <a:buNone/>
              <a:defRPr sz="3504"/>
            </a:pPr>
            <a:r>
              <a:t>Develop and validate a deep learning model to classify chest X-ray images effectively</a:t>
            </a:r>
          </a:p>
        </p:txBody>
      </p:sp>
      <p:sp>
        <p:nvSpPr>
          <p:cNvPr id="179" name="Problem Statement"/>
          <p:cNvSpPr txBox="1"/>
          <p:nvPr>
            <p:ph type="title"/>
          </p:nvPr>
        </p:nvSpPr>
        <p:spPr>
          <a:xfrm>
            <a:off x="1206500" y="1074605"/>
            <a:ext cx="9779000" cy="1435101"/>
          </a:xfrm>
          <a:prstGeom prst="rect">
            <a:avLst/>
          </a:prstGeom>
        </p:spPr>
        <p:txBody>
          <a:bodyPr/>
          <a:lstStyle>
            <a:lvl1pPr defTabSz="1779987">
              <a:defRPr spc="-169" sz="8468"/>
            </a:lvl1pPr>
          </a:lstStyle>
          <a:p>
            <a:pPr/>
            <a:r>
              <a:t>Problem Statement</a:t>
            </a:r>
          </a:p>
        </p:txBody>
      </p:sp>
      <p:pic>
        <p:nvPicPr>
          <p:cNvPr id="180" name="Screenshot 2025-08-15 at 11.08.56 PM.png" descr="Screenshot 2025-08-15 at 11.08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11182" y="933778"/>
            <a:ext cx="10869233" cy="118484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aset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/>
            </a:lvl1pPr>
          </a:lstStyle>
          <a:p>
            <a:pPr/>
            <a:r>
              <a:t>Dataset overview</a:t>
            </a:r>
          </a:p>
        </p:txBody>
      </p:sp>
      <p:sp>
        <p:nvSpPr>
          <p:cNvPr id="183" name="Total Images: 13,977 images - Pneumonia vs Normal.…"/>
          <p:cNvSpPr txBox="1"/>
          <p:nvPr>
            <p:ph type="body" idx="1"/>
          </p:nvPr>
        </p:nvSpPr>
        <p:spPr>
          <a:xfrm>
            <a:off x="1206500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 defTabSz="1267936">
              <a:spcBef>
                <a:spcPts val="2300"/>
              </a:spcBef>
              <a:buSzTx/>
              <a:buNone/>
              <a:defRPr sz="2496"/>
            </a:pPr>
            <a:r>
              <a:rPr b="1"/>
              <a:t>Total Images:</a:t>
            </a:r>
            <a:r>
              <a:t> 13,977 images - Pneumonia vs Normal.</a:t>
            </a:r>
          </a:p>
          <a:p>
            <a:pPr marL="0" indent="0" defTabSz="1267936">
              <a:spcBef>
                <a:spcPts val="2300"/>
              </a:spcBef>
              <a:buSzTx/>
              <a:buNone/>
              <a:defRPr b="1" sz="2496"/>
            </a:pPr>
            <a:r>
              <a:t>Dataset Split: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Training Set: 12,230 images (88%)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Validation Set: 1,165 images (8%)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Test Set: 582 images (4%)</a:t>
            </a:r>
          </a:p>
          <a:p>
            <a:pPr marL="0" indent="0" defTabSz="1267936">
              <a:spcBef>
                <a:spcPts val="2300"/>
              </a:spcBef>
              <a:buSzTx/>
              <a:buNone/>
              <a:defRPr b="1" sz="2496"/>
            </a:pPr>
            <a:r>
              <a:t>Preprocessing: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Auto-Orientation applied to all images.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Resized images to 224x224 pixels.</a:t>
            </a:r>
          </a:p>
          <a:p>
            <a:pPr marL="0" indent="0" defTabSz="1267936">
              <a:spcBef>
                <a:spcPts val="2300"/>
              </a:spcBef>
              <a:buSzTx/>
              <a:buNone/>
              <a:defRPr b="1" sz="2496"/>
            </a:pPr>
            <a:r>
              <a:t>Augmentation techniques: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Shear: ±3° horizontal, ±2° vertical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Saturation -  -5% to +5%</a:t>
            </a:r>
          </a:p>
          <a:p>
            <a:pPr marL="316991" indent="-316991" defTabSz="1267936">
              <a:spcBef>
                <a:spcPts val="2300"/>
              </a:spcBef>
              <a:defRPr sz="2496"/>
            </a:pPr>
            <a:r>
              <a:t>Brightness &amp; Exposure - -5% to +5%</a:t>
            </a:r>
          </a:p>
          <a:p>
            <a:pPr marL="0" indent="0" defTabSz="1267936">
              <a:spcBef>
                <a:spcPts val="2300"/>
              </a:spcBef>
              <a:buSzTx/>
              <a:buNone/>
              <a:defRPr sz="2496"/>
            </a:pPr>
            <a:r>
              <a:t>The augmentation increases dataset diversity to help prevent overfitting.</a:t>
            </a:r>
          </a:p>
        </p:txBody>
      </p:sp>
      <p:pic>
        <p:nvPicPr>
          <p:cNvPr id="184" name="Screenshot 2025-08-15 at 11.22.23 PM.png" descr="Screenshot 2025-08-15 at 11.22.2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35458" y="3118931"/>
            <a:ext cx="7392417" cy="69019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Methodology</a:t>
            </a:r>
          </a:p>
        </p:txBody>
      </p:sp>
      <p:sp>
        <p:nvSpPr>
          <p:cNvPr id="187" name="Data Collection…"/>
          <p:cNvSpPr txBox="1"/>
          <p:nvPr>
            <p:ph type="body" idx="1"/>
          </p:nvPr>
        </p:nvSpPr>
        <p:spPr>
          <a:xfrm>
            <a:off x="1206499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Data Collection</a:t>
            </a:r>
            <a:endParaRPr sz="868"/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Source: Publicly available Chest X-Rays dataset from </a:t>
            </a:r>
            <a:r>
              <a:rPr u="sng">
                <a:hlinkClick r:id="rId2" invalidUrl="" action="" tgtFrame="" tooltip="" history="1" highlightClick="0" endSnd="0"/>
              </a:rPr>
              <a:t>Roboflow</a:t>
            </a:r>
            <a:r>
              <a:t>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Classes: Two categories - Normal and Pneumonia.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This dataset is curated from multiple verified medical image repositories, ensuring quality and diversity in patient demographics.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Data Preprocessing</a:t>
            </a:r>
            <a:endParaRPr sz="868"/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All images were auto-oriented to correct rotation or flipping errors.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Resized uniformly to 224 × 224 pixels to match the model’s input requirements.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Removal of corrupted or low-quality images to maintain dataset integrity.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Methodology</a:t>
            </a:r>
          </a:p>
        </p:txBody>
      </p:sp>
      <p:sp>
        <p:nvSpPr>
          <p:cNvPr id="190" name="Data Augmentation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Data Augmentation</a:t>
            </a:r>
            <a:endParaRPr sz="868"/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Applied random shear transformations to simulate different angles of X-rays.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Adjusted saturation to account for variations in image acquisition equipment.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Applied brightness variations to mimic real-world lighting inconsistencies in scans.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Exposure adjustments to enhance contrast and feature visibility.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Augmentation improves generalization, helping the model perform better on unseen images. 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Model Development</a:t>
            </a:r>
            <a:endParaRPr sz="868"/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Developed a Convolutional Neural Network specifically designed for image classification tasks.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CNN layers automatically extract relevant spatial features - edges, textures, patterns from X-rays.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Model consists of convolutional layers for feature extraction.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Methodology</a:t>
            </a:r>
          </a:p>
        </p:txBody>
      </p:sp>
      <p:sp>
        <p:nvSpPr>
          <p:cNvPr id="193" name="Training and Validation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Training and Validation</a:t>
            </a:r>
            <a:endParaRPr sz="868"/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Train/Validation/Test Split:</a:t>
            </a:r>
            <a:endParaRPr>
              <a:latin typeface="Helvetica"/>
              <a:ea typeface="Helvetica"/>
              <a:cs typeface="Helvetica"/>
              <a:sym typeface="Helvetica"/>
            </a:endParaR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88% - Training set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8% - Validation set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4% - Test set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Dropout layers used for regularization.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</p:txBody>
      </p:sp>
      <p:pic>
        <p:nvPicPr>
          <p:cNvPr id="194" name="Screenshot 2025-08-15 at 11.38.28 PM.png" descr="Screenshot 2025-08-15 at 11.38.2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5191" y="2753991"/>
            <a:ext cx="13942121" cy="58993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2 - Phase Trai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2 - Phase Training</a:t>
            </a:r>
          </a:p>
        </p:txBody>
      </p:sp>
      <p:sp>
        <p:nvSpPr>
          <p:cNvPr id="197" name="Phase 1: Transfer Learning…"/>
          <p:cNvSpPr txBox="1"/>
          <p:nvPr>
            <p:ph type="body" idx="1"/>
          </p:nvPr>
        </p:nvSpPr>
        <p:spPr>
          <a:xfrm>
            <a:off x="1206500" y="2957752"/>
            <a:ext cx="21971001" cy="8256011"/>
          </a:xfrm>
          <a:prstGeom prst="rect">
            <a:avLst/>
          </a:prstGeom>
        </p:spPr>
        <p:txBody>
          <a:bodyPr/>
          <a:lstStyle/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b="1" sz="3072"/>
            </a:pPr>
            <a:r>
              <a:t>Phase 1: Transfer Learning</a:t>
            </a:r>
            <a:endParaRPr sz="896"/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  <a:r>
              <a:t>Using a pre-trained CNN model as feature extractor.</a:t>
            </a:r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  <a:r>
              <a:t>Frozen convolutional layers to retain learned image features.</a:t>
            </a:r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b="1" sz="3072"/>
            </a:pPr>
            <a:r>
              <a:t>Phase 2: Fine-Tuning</a:t>
            </a:r>
            <a:endParaRPr sz="896"/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  <a:r>
              <a:t>Unfrozen top convolutional layers of the pre-trained model.</a:t>
            </a:r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  <a:r>
              <a:t>Trained entire network with a lower learning rate.</a:t>
            </a:r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  <a:r>
              <a:t>Allowed deeper layers to adapt specifically to chest X-ray patterns.</a:t>
            </a:r>
          </a:p>
          <a:p>
            <a:pPr marL="0" indent="0" defTabSz="528319">
              <a:lnSpc>
                <a:spcPct val="100000"/>
              </a:lnSpc>
              <a:spcBef>
                <a:spcPts val="3700"/>
              </a:spcBef>
              <a:buSzTx/>
              <a:buNone/>
              <a:defRPr sz="3072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halle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Challenges</a:t>
            </a:r>
          </a:p>
        </p:txBody>
      </p:sp>
      <p:sp>
        <p:nvSpPr>
          <p:cNvPr id="200" name="Model Training:…"/>
          <p:cNvSpPr txBox="1"/>
          <p:nvPr>
            <p:ph type="body" idx="1"/>
          </p:nvPr>
        </p:nvSpPr>
        <p:spPr>
          <a:xfrm>
            <a:off x="1206499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rPr b="1"/>
              <a:t>Model Training:</a:t>
            </a:r>
            <a:r>
              <a:t> 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Achieving higher accuracy required extensive fine-tuning of parameters.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rPr b="1"/>
              <a:t>Frontend Deployment:</a:t>
            </a:r>
            <a:r>
              <a:t> 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Encountered errors due to deprecated packages and compatibility issues.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rPr b="1"/>
              <a:t>Backend Deployment:</a:t>
            </a:r>
            <a:r>
              <a:t> 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Faced integration and environment configuration challenges during deployment.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rPr b="1"/>
              <a:t>Model Selection:</a:t>
            </a:r>
            <a:r>
              <a:t> 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Had to evaluate multiple CNN architectures and justify the choice of MobileNetV2 over other models.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Limitations and Future 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Limitations and Future work </a:t>
            </a:r>
          </a:p>
        </p:txBody>
      </p:sp>
      <p:sp>
        <p:nvSpPr>
          <p:cNvPr id="203" name="Limitations:…"/>
          <p:cNvSpPr txBox="1"/>
          <p:nvPr>
            <p:ph type="body" idx="1"/>
          </p:nvPr>
        </p:nvSpPr>
        <p:spPr>
          <a:xfrm>
            <a:off x="1206499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Limitations: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Single disease focus: binary classification only.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Image stretching might distort anatomical features.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b="1" sz="2976"/>
            </a:pPr>
            <a:r>
              <a:t>Future Work: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Expand the dataset with more diverse and multi-source images.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Explore advanced architectures like transfer learning with pre-trained models.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  <a:r>
              <a:t>Handle Edge Cases</a:t>
            </a: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  <a:p>
            <a:pPr marL="0" indent="0" defTabSz="1511770">
              <a:spcBef>
                <a:spcPts val="2700"/>
              </a:spcBef>
              <a:buSzTx/>
              <a:buNone/>
              <a:defRPr sz="2976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